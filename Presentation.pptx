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notesMasterIdLst>
    <p:notesMasterId r:id="rId15"/>
  </p:notesMasterIdLst>
  <p:sldIdLst>
    <p:sldId id="256" r:id="rId2"/>
    <p:sldId id="257" r:id="rId3"/>
    <p:sldId id="260" r:id="rId4"/>
    <p:sldId id="258" r:id="rId5"/>
    <p:sldId id="259" r:id="rId6"/>
    <p:sldId id="262" r:id="rId7"/>
    <p:sldId id="261" r:id="rId8"/>
    <p:sldId id="263" r:id="rId9"/>
    <p:sldId id="264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30BDE-6734-4B61-B213-8FF7949967BF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00E5B-6074-425F-B613-3DF4C13198D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27760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also experimented a bit with SG, but didn’t produce great results.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300E5B-6074-425F-B613-3DF4C13198D5}" type="slidenum">
              <a:rPr lang="en-AE" smtClean="0"/>
              <a:t>7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94360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24B87-AB9F-D83E-8BD3-922EE6393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8F216-8566-1D55-5472-9682BAB0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ABCFC-D947-E597-2490-F3890888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BBC75-7B35-0F0E-217B-03B4F2D9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0FC04-D792-85A0-D3CE-159B5702C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26940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9EE36-05AC-5DED-56EC-F5F3644B0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EB4AD-A1F8-4255-3DEC-3DE586917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96A91-CB13-BF5E-3F45-4C9BB80C5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B2024-815A-D11A-7A88-E0D10CD0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5503-D863-2666-D74F-CDB9F109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36919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4C56-18AC-0BCE-B8D7-BC707A05E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E402A-C3F9-706B-1DCD-7470AE13E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C1990-3973-17B6-BEB1-B21DCC47B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91C71-6951-50C8-26D3-A074D174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70D51-9B2B-00A1-BF05-455F422A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8387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128A2-4026-AD04-F330-B66A38327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B9496-0AEB-4BD6-3816-240F189671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D47D9-B69B-C542-DCE0-ECECD7BBC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70CE1-41C8-BB06-D3FF-D185D1CF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87E7BC-3172-EE33-192E-BA6CC950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629B9-5BBD-4F0E-C443-70B857A0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5872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D5329-4177-735A-265F-7FDC037C4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569F-60A4-C2DE-B7B1-8EEA73B7A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788E9-49F6-A237-C675-C0AF19B98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A432E7-AC5D-2DF0-85EA-0835A4F50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5E9E4-B9CC-5AD4-7442-C68370763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DCFC7-70FF-F782-EF5C-3660FCDE0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B7E000-C929-F04C-4889-CC8B432F5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64ED67-66E0-3453-EBD8-81D0D9A5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052818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7F3E-4C1A-9398-CD00-52C41C056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6435A-B92C-8C90-E946-25391E8B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4BCFE-8170-3BAA-E03B-9DA349AB1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CC095-5BF1-2718-63B7-D43B29FB2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9361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0BBBD3-395A-BBC7-1355-385194F40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7EC2AE-EA04-4972-7DA4-BB0022B9C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6FA60-E1C3-E47C-499D-7B97BC47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405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88DF-01B2-5C7F-3EF2-ACBC23300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E507F-6D5F-4DA9-6199-9A22B6DE9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302C6-0B2D-24AF-D05B-BDFEE8AD8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28BC7-DADD-54D6-A037-8AC30260B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855C5-73ED-3733-6653-F894AF882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4AE48-4375-9EF0-B2C4-63ECB94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6322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1C6E-CDF7-6C11-8D3A-029B49D8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79761-423E-B11D-8003-E12E0C62F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1C275-37F3-8318-ABAA-FFF1A1410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FEBEE-702F-1778-D38E-64EDEF2D9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A5BB2-6717-BA5D-556A-3E020E41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F5708-09F8-3EBA-5A11-90EC08BE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5801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FE63-5AA7-0099-6C49-0B414A858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7F5A6-7685-B1B2-D9BE-D71DDC3EA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BD2BC-69AF-DB50-4C3E-1ED51B089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218C4-CF3B-36EB-39FA-92BDBD97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D744B-41AE-D277-0400-89EE22AC5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41365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AAF106-A353-9C25-9443-8C43A07F3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0B5AD-1211-F739-7299-19C546306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2D62F-8118-7876-08ED-CE0B4608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68B59-320F-FEF7-C127-8B82AD070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86DA3-2F27-E7B4-5602-4176AE21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0195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FE29C9-F415-CCB5-4076-7ED788B8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DC4F7-855D-C09A-FC06-B649D2622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E770B-EB2D-4CC6-E106-497B4676E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DBDB8-1FD4-43C0-8777-E0AA7307EFDD}" type="datetimeFigureOut">
              <a:rPr lang="en-AE" smtClean="0"/>
              <a:t>02/01/2024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84DCB-FC8B-1461-4441-9EC3B5F04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16DE5-EDD7-48F4-4CCD-720FEFB9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237E7-5FB6-4B81-B54D-7007EA3455B2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283506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BCAC6-CBF9-7570-08A2-6D94F5C98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816078"/>
            <a:ext cx="9144000" cy="1867976"/>
          </a:xfrm>
        </p:spPr>
        <p:txBody>
          <a:bodyPr/>
          <a:lstStyle/>
          <a:p>
            <a:pPr algn="ctr"/>
            <a:r>
              <a:rPr lang="en-US" dirty="0"/>
              <a:t>CMPS454 – NLP</a:t>
            </a:r>
            <a:br>
              <a:rPr lang="en-US" dirty="0"/>
            </a:br>
            <a:r>
              <a:rPr lang="en-US" dirty="0"/>
              <a:t>Arabic </a:t>
            </a:r>
            <a:r>
              <a:rPr lang="en-US" dirty="0" err="1"/>
              <a:t>Diacritization</a:t>
            </a:r>
            <a:endParaRPr lang="en-A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233E55-5FE8-DEB7-D024-6D47C0A5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3691450"/>
            <a:ext cx="8791575" cy="165576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Presented By:</a:t>
            </a:r>
            <a:endParaRPr lang="en-AE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FDEF87-0056-BAE9-77A7-CCAA9E367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272149"/>
              </p:ext>
            </p:extLst>
          </p:nvPr>
        </p:nvGraphicFramePr>
        <p:xfrm>
          <a:off x="1953342" y="4187722"/>
          <a:ext cx="8128000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224169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70289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en-A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  <a:endParaRPr lang="en-A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7533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Ali Mohamed Hashish</a:t>
                      </a:r>
                      <a:endParaRPr lang="en-A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1190223</a:t>
                      </a:r>
                      <a:endParaRPr lang="en-A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6591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Amr Ahmed </a:t>
                      </a:r>
                      <a:r>
                        <a:rPr lang="en-US" dirty="0" err="1"/>
                        <a:t>Abdelzaher</a:t>
                      </a:r>
                      <a:endParaRPr lang="en-A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1190074</a:t>
                      </a:r>
                      <a:endParaRPr lang="en-A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36442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John Maurice</a:t>
                      </a:r>
                      <a:endParaRPr lang="en-A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1190403</a:t>
                      </a:r>
                      <a:endParaRPr lang="en-A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1525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Joseph Ameer Aziz</a:t>
                      </a:r>
                      <a:endParaRPr lang="en-A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1190052</a:t>
                      </a:r>
                      <a:endParaRPr lang="en-A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541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916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5EDD3-CD6E-AFAB-4498-AFF05D727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Flow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2D2C3-B596-D386-9F86-4D2E73FA6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Cleaning and preprocessing the data.</a:t>
            </a:r>
          </a:p>
          <a:p>
            <a:r>
              <a:rPr lang="en-US" dirty="0"/>
              <a:t>Extracting features for our model.</a:t>
            </a:r>
          </a:p>
          <a:p>
            <a:r>
              <a:rPr lang="en-AE" dirty="0"/>
              <a:t>Training the model and predicting diacritics.</a:t>
            </a:r>
          </a:p>
          <a:p>
            <a:r>
              <a:rPr lang="en-AE" dirty="0"/>
              <a:t>Calculating accuracy and DER.</a:t>
            </a:r>
          </a:p>
        </p:txBody>
      </p:sp>
    </p:spTree>
    <p:extLst>
      <p:ext uri="{BB962C8B-B14F-4D97-AF65-F5344CB8AC3E}">
        <p14:creationId xmlns:p14="http://schemas.microsoft.com/office/powerpoint/2010/main" val="254946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C26F-3BB2-583E-BAFE-3CC05BA35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</a:t>
            </a:r>
            <a:endParaRPr lang="en-A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74F5BF-BAC1-7EA4-056D-08F26B47B38F}"/>
              </a:ext>
            </a:extLst>
          </p:cNvPr>
          <p:cNvSpPr txBox="1">
            <a:spLocks/>
          </p:cNvSpPr>
          <p:nvPr/>
        </p:nvSpPr>
        <p:spPr>
          <a:xfrm>
            <a:off x="777619" y="2235975"/>
            <a:ext cx="4881921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Removing some characters that do not contribute as much to the meaning of the sentence, and would not help in </a:t>
            </a:r>
            <a:r>
              <a:rPr lang="en-US" dirty="0" err="1"/>
              <a:t>diacritization</a:t>
            </a:r>
            <a:r>
              <a:rPr lang="en-US" dirty="0"/>
              <a:t>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60F2D6D-73B5-6D3F-6DDA-83170A75C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40" y="219075"/>
            <a:ext cx="6162675" cy="641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49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6C26F-3BB2-583E-BAFE-3CC05BA35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</a:t>
            </a:r>
            <a:endParaRPr lang="en-A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74F5BF-BAC1-7EA4-056D-08F26B47B38F}"/>
              </a:ext>
            </a:extLst>
          </p:cNvPr>
          <p:cNvSpPr txBox="1">
            <a:spLocks/>
          </p:cNvSpPr>
          <p:nvPr/>
        </p:nvSpPr>
        <p:spPr>
          <a:xfrm>
            <a:off x="777619" y="2235975"/>
            <a:ext cx="4881921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E" dirty="0"/>
              <a:t>Replacing some characters to unify the format. Like using Arabic commas instead of English ones.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E2428F3-B569-C75A-F973-D6A32C4ED4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669" y="2235975"/>
            <a:ext cx="580072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935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B61D-A852-3B85-48FF-E3BA8210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 – Label Encoder &amp; Embeddings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79902-542B-CAB6-7EE0-7B087FDB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212388" cy="3541714"/>
          </a:xfrm>
        </p:spPr>
        <p:txBody>
          <a:bodyPr/>
          <a:lstStyle/>
          <a:p>
            <a:r>
              <a:rPr lang="en-US" dirty="0"/>
              <a:t>Label encoder converts characters from 0 to </a:t>
            </a:r>
            <a:r>
              <a:rPr lang="en-US" dirty="0" err="1"/>
              <a:t>unique_character</a:t>
            </a:r>
            <a:r>
              <a:rPr lang="en-US" dirty="0"/>
              <a:t> - 1</a:t>
            </a:r>
            <a:endParaRPr lang="en-A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D8939AD-57AB-AFBA-00E1-7B55DD549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94" y="3190602"/>
            <a:ext cx="11375611" cy="3159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5358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B61D-A852-3B85-48FF-E3BA8210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 – CBOW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79902-542B-CAB6-7EE0-7B087FDB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515600" cy="3541714"/>
          </a:xfrm>
        </p:spPr>
        <p:txBody>
          <a:bodyPr/>
          <a:lstStyle/>
          <a:p>
            <a:r>
              <a:rPr lang="en-US" dirty="0"/>
              <a:t>We use tokenizer while accounting for OOV tokens. We train the neural network on a fake task, producing some word embeddings.</a:t>
            </a:r>
            <a:endParaRPr lang="en-AE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B0FB01F-0157-BDFF-5CC7-725D491ED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2" y="3611813"/>
            <a:ext cx="9909175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13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B61D-A852-3B85-48FF-E3BA8210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Extraction – CBOW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79902-542B-CAB6-7EE0-7B087FDB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515600" cy="3541714"/>
          </a:xfrm>
        </p:spPr>
        <p:txBody>
          <a:bodyPr/>
          <a:lstStyle/>
          <a:p>
            <a:r>
              <a:rPr lang="en-US" dirty="0"/>
              <a:t>The output of our encoder is passed to the CBOW model.</a:t>
            </a:r>
            <a:endParaRPr lang="en-AE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59990B05-F5E0-9AEB-9BFA-005819B57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623" y="2951162"/>
            <a:ext cx="9958754" cy="354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50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B61D-A852-3B85-48FF-E3BA8210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79902-542B-CAB6-7EE0-7B087FDB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515600" cy="3541714"/>
          </a:xfrm>
        </p:spPr>
        <p:txBody>
          <a:bodyPr/>
          <a:lstStyle/>
          <a:p>
            <a:r>
              <a:rPr lang="en-US" dirty="0"/>
              <a:t>We experimented with a few models:</a:t>
            </a:r>
          </a:p>
          <a:p>
            <a:pPr lvl="1"/>
            <a:r>
              <a:rPr lang="en-US" dirty="0"/>
              <a:t>Model obtained from the </a:t>
            </a:r>
            <a:r>
              <a:rPr lang="en-US" dirty="0" err="1"/>
              <a:t>Shakkala</a:t>
            </a:r>
            <a:r>
              <a:rPr lang="en-US" dirty="0"/>
              <a:t> paper.</a:t>
            </a:r>
          </a:p>
          <a:p>
            <a:pPr lvl="1"/>
            <a:r>
              <a:rPr lang="en-US" dirty="0"/>
              <a:t>First modification to </a:t>
            </a:r>
            <a:r>
              <a:rPr lang="en-US" dirty="0" err="1"/>
              <a:t>Shakkala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Second modification to </a:t>
            </a:r>
            <a:r>
              <a:rPr lang="en-US" dirty="0" err="1"/>
              <a:t>Shakkala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Third modification to </a:t>
            </a:r>
            <a:r>
              <a:rPr lang="en-US" dirty="0" err="1"/>
              <a:t>Shakkala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CBHG.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664634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B61D-A852-3B85-48FF-E3BA8210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Shakkala</a:t>
            </a:r>
            <a:r>
              <a:rPr lang="en-US" dirty="0"/>
              <a:t> Paper Model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79902-542B-CAB6-7EE0-7B087FDB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302" y="1787371"/>
            <a:ext cx="10515600" cy="3541714"/>
          </a:xfrm>
        </p:spPr>
        <p:txBody>
          <a:bodyPr/>
          <a:lstStyle/>
          <a:p>
            <a:r>
              <a:rPr lang="en-US" dirty="0"/>
              <a:t>DER: 2.6%</a:t>
            </a:r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AB3FC5-A6AD-8678-486B-2478F3C25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008" y="1690688"/>
            <a:ext cx="9035176" cy="458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033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B61D-A852-3B85-48FF-E3BA8210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Modification to </a:t>
            </a:r>
            <a:r>
              <a:rPr lang="en-US" dirty="0" err="1"/>
              <a:t>Shakkala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79902-542B-CAB6-7EE0-7B087FDB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302" y="1787371"/>
            <a:ext cx="3794382" cy="3541714"/>
          </a:xfrm>
        </p:spPr>
        <p:txBody>
          <a:bodyPr/>
          <a:lstStyle/>
          <a:p>
            <a:r>
              <a:rPr lang="en-US" dirty="0"/>
              <a:t>Using Conv1D to improve performance.</a:t>
            </a:r>
            <a:endParaRPr lang="en-AE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2357D155-C07B-BA28-0810-B2E3225B5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079" y="1690688"/>
            <a:ext cx="7691252" cy="458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922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B61D-A852-3B85-48FF-E3BA8210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Modification to </a:t>
            </a:r>
            <a:r>
              <a:rPr lang="en-US" dirty="0" err="1"/>
              <a:t>Shakkala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79902-542B-CAB6-7EE0-7B087FDB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302" y="1787371"/>
            <a:ext cx="3863208" cy="3541714"/>
          </a:xfrm>
        </p:spPr>
        <p:txBody>
          <a:bodyPr/>
          <a:lstStyle/>
          <a:p>
            <a:r>
              <a:rPr lang="en-US" dirty="0"/>
              <a:t>DER: 2.24%</a:t>
            </a:r>
          </a:p>
          <a:p>
            <a:r>
              <a:rPr lang="en-US" dirty="0"/>
              <a:t>Added more convolution layers</a:t>
            </a:r>
          </a:p>
          <a:p>
            <a:r>
              <a:rPr lang="en-US" dirty="0"/>
              <a:t>Submitted model</a:t>
            </a:r>
            <a:r>
              <a:rPr lang="en-AE" dirty="0"/>
              <a:t> (conv_1000)</a:t>
            </a:r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98FCD0E-FA0B-A337-9251-8269CE08F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412" y="1314961"/>
            <a:ext cx="6903286" cy="5398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32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B61D-A852-3B85-48FF-E3BA8210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Modification to </a:t>
            </a:r>
            <a:r>
              <a:rPr lang="en-US" dirty="0" err="1"/>
              <a:t>Shakkala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79902-542B-CAB6-7EE0-7B087FDB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302" y="1787371"/>
            <a:ext cx="3863208" cy="3541714"/>
          </a:xfrm>
        </p:spPr>
        <p:txBody>
          <a:bodyPr/>
          <a:lstStyle/>
          <a:p>
            <a:r>
              <a:rPr lang="en-US" dirty="0"/>
              <a:t>Replaced LSTMs with GRUs.</a:t>
            </a:r>
          </a:p>
          <a:p>
            <a:r>
              <a:rPr lang="en-US" dirty="0"/>
              <a:t>Did not lead to desired results.</a:t>
            </a:r>
            <a:endParaRPr lang="en-A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07467-BC20-7614-0047-7863BC2DA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389" y="1304211"/>
            <a:ext cx="6793919" cy="546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16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B61D-A852-3B85-48FF-E3BA82103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CBHG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79902-542B-CAB6-7EE0-7B087FDB1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302" y="1787371"/>
            <a:ext cx="3863208" cy="3541714"/>
          </a:xfrm>
        </p:spPr>
        <p:txBody>
          <a:bodyPr/>
          <a:lstStyle/>
          <a:p>
            <a:r>
              <a:rPr lang="en-US" dirty="0"/>
              <a:t>DER: 2.9%</a:t>
            </a:r>
            <a:endParaRPr lang="en-AE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7BC23CC-8EEA-2325-9B0F-B82428589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4054" y="654374"/>
            <a:ext cx="5943600" cy="494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A940E2C-8C52-9105-6CE3-47E8A5162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126111"/>
            <a:ext cx="59436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900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261</Words>
  <Application>Microsoft Office PowerPoint</Application>
  <PresentationFormat>Widescreen</PresentationFormat>
  <Paragraphs>49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CMPS454 – NLP Arabic Diacritization</vt:lpstr>
      <vt:lpstr>Project Flow</vt:lpstr>
      <vt:lpstr>Cleaning</vt:lpstr>
      <vt:lpstr>Cleaning</vt:lpstr>
      <vt:lpstr>Feature Extraction – Label Encoder &amp; Embeddings</vt:lpstr>
      <vt:lpstr>Feature Extraction – CBOW</vt:lpstr>
      <vt:lpstr>Feature Extraction – CBOW</vt:lpstr>
      <vt:lpstr>Model</vt:lpstr>
      <vt:lpstr>Shakkala Paper Model</vt:lpstr>
      <vt:lpstr>First Modification to Shakkala</vt:lpstr>
      <vt:lpstr>Second Modification to Shakkala</vt:lpstr>
      <vt:lpstr>Third Modification to Shakkala</vt:lpstr>
      <vt:lpstr>CBHG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CMPS454 – NLP Arabic diacritization</dc:title>
  <dc:creator>Ali Hashish</dc:creator>
  <cp:lastModifiedBy>Ali Hashish</cp:lastModifiedBy>
  <cp:revision>18</cp:revision>
  <dcterms:created xsi:type="dcterms:W3CDTF">2024-01-01T21:52:36Z</dcterms:created>
  <dcterms:modified xsi:type="dcterms:W3CDTF">2024-01-01T23:03:48Z</dcterms:modified>
</cp:coreProperties>
</file>